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0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2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4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4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2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2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0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1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505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0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83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08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1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9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63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F9CC4D-BCFB-DED1-DBAF-8DBADEA048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570271" y="-1"/>
            <a:ext cx="10373032" cy="685800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90042" y="2133600"/>
            <a:ext cx="7025294" cy="2875936"/>
          </a:xfrm>
        </p:spPr>
        <p:txBody>
          <a:bodyPr/>
          <a:lstStyle/>
          <a:p>
            <a:pPr algn="ctr"/>
            <a:r>
              <a:rPr sz="4500" dirty="0">
                <a:solidFill>
                  <a:schemeClr val="tx1"/>
                </a:solidFill>
                <a:latin typeface="Algerian" panose="04020705040A02060702" pitchFamily="82" charset="0"/>
              </a:rPr>
              <a:t>Credit Card Customer Segmentation (Unsupervised Learning)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094368" y="5849096"/>
            <a:ext cx="6620968" cy="861420"/>
          </a:xfrm>
        </p:spPr>
        <p:txBody>
          <a:bodyPr/>
          <a:lstStyle/>
          <a:p>
            <a:pPr algn="ctr">
              <a:defRPr sz="2000"/>
            </a:pPr>
            <a:r>
              <a:rPr dirty="0">
                <a:solidFill>
                  <a:schemeClr val="accent3"/>
                </a:solidFill>
                <a:latin typeface="Arial Black" panose="020B0A04020102020204" pitchFamily="34" charset="0"/>
              </a:rPr>
              <a:t>Presented by: Rahul </a:t>
            </a:r>
            <a:r>
              <a:rPr dirty="0" err="1">
                <a:solidFill>
                  <a:schemeClr val="accent3"/>
                </a:solidFill>
                <a:latin typeface="Arial Black" panose="020B0A04020102020204" pitchFamily="34" charset="0"/>
              </a:rPr>
              <a:t>Gottemukkula</a:t>
            </a:r>
            <a:endParaRPr dirty="0">
              <a:solidFill>
                <a:schemeClr val="accent3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93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B904A0-4601-3499-E352-766E2A86FB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792410"/>
              </p:ext>
            </p:extLst>
          </p:nvPr>
        </p:nvGraphicFramePr>
        <p:xfrm>
          <a:off x="484710" y="1288024"/>
          <a:ext cx="8288900" cy="5117255"/>
        </p:xfrm>
        <a:graphic>
          <a:graphicData uri="http://schemas.openxmlformats.org/drawingml/2006/table">
            <a:tbl>
              <a:tblPr/>
              <a:tblGrid>
                <a:gridCol w="3956701">
                  <a:extLst>
                    <a:ext uri="{9D8B030D-6E8A-4147-A177-3AD203B41FA5}">
                      <a16:colId xmlns:a16="http://schemas.microsoft.com/office/drawing/2014/main" val="2139617937"/>
                    </a:ext>
                  </a:extLst>
                </a:gridCol>
                <a:gridCol w="4332199">
                  <a:extLst>
                    <a:ext uri="{9D8B030D-6E8A-4147-A177-3AD203B41FA5}">
                      <a16:colId xmlns:a16="http://schemas.microsoft.com/office/drawing/2014/main" val="1425295089"/>
                    </a:ext>
                  </a:extLst>
                </a:gridCol>
              </a:tblGrid>
              <a:tr h="359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Feature</a:t>
                      </a:r>
                      <a:endParaRPr lang="en-IN" sz="20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Definition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609843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CUST_ID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Unique identifier assigned to each credit card customer.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83883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BALANCE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outstanding balance available on the customer's credit card account.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37357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BALANCE_FREQUENCY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Frequency at which the account balance is updated (0 to 1).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779202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PURCHASES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amount spent by the customer using the credit card.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717777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ONEOFF_PURCHASES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value of one-time purchases made by the customer.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263534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INSTALLMENTS_PURCHASES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amount spent through installment (EMI) purchases.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469550"/>
                  </a:ext>
                </a:extLst>
              </a:tr>
              <a:tr h="27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CASH_ADVANCE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cash withdrawn using the credit card.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302500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PURCHASES_FREQUENCY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Frequency of making purchases with the credit card (0 to 1).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81477"/>
                  </a:ext>
                </a:extLst>
              </a:tr>
              <a:tr h="27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ONEOFF_PURCHASES_FREQUENCY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Frequency of one-time purchase transactions.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159142"/>
                  </a:ext>
                </a:extLst>
              </a:tr>
              <a:tr h="525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PURCHASES_INSTALLMENTS_FREQUENCY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Frequency of purchases made through </a:t>
                      </a:r>
                      <a:r>
                        <a:rPr lang="en-IN" sz="1500" dirty="0" err="1"/>
                        <a:t>installment</a:t>
                      </a:r>
                      <a:r>
                        <a:rPr lang="en-IN" sz="1500" dirty="0"/>
                        <a:t> payments.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7986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22FFA6-4558-C692-47AA-11B8C6B07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594700"/>
              </p:ext>
            </p:extLst>
          </p:nvPr>
        </p:nvGraphicFramePr>
        <p:xfrm>
          <a:off x="827088" y="544010"/>
          <a:ext cx="7610168" cy="5364832"/>
        </p:xfrm>
        <a:graphic>
          <a:graphicData uri="http://schemas.openxmlformats.org/drawingml/2006/table">
            <a:tbl>
              <a:tblPr/>
              <a:tblGrid>
                <a:gridCol w="3805084">
                  <a:extLst>
                    <a:ext uri="{9D8B030D-6E8A-4147-A177-3AD203B41FA5}">
                      <a16:colId xmlns:a16="http://schemas.microsoft.com/office/drawing/2014/main" val="2338078787"/>
                    </a:ext>
                  </a:extLst>
                </a:gridCol>
                <a:gridCol w="3805084">
                  <a:extLst>
                    <a:ext uri="{9D8B030D-6E8A-4147-A177-3AD203B41FA5}">
                      <a16:colId xmlns:a16="http://schemas.microsoft.com/office/drawing/2014/main" val="1238278774"/>
                    </a:ext>
                  </a:extLst>
                </a:gridCol>
              </a:tblGrid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51483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590172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1217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03961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814435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472980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660098"/>
                  </a:ext>
                </a:extLst>
              </a:tr>
              <a:tr h="6706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32515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47AC0C-8AED-C087-61CB-C1980661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33921"/>
              </p:ext>
            </p:extLst>
          </p:nvPr>
        </p:nvGraphicFramePr>
        <p:xfrm>
          <a:off x="827088" y="1238491"/>
          <a:ext cx="7610168" cy="4577752"/>
        </p:xfrm>
        <a:graphic>
          <a:graphicData uri="http://schemas.openxmlformats.org/drawingml/2006/table">
            <a:tbl>
              <a:tblPr/>
              <a:tblGrid>
                <a:gridCol w="2888385">
                  <a:extLst>
                    <a:ext uri="{9D8B030D-6E8A-4147-A177-3AD203B41FA5}">
                      <a16:colId xmlns:a16="http://schemas.microsoft.com/office/drawing/2014/main" val="347208024"/>
                    </a:ext>
                  </a:extLst>
                </a:gridCol>
                <a:gridCol w="4721783">
                  <a:extLst>
                    <a:ext uri="{9D8B030D-6E8A-4147-A177-3AD203B41FA5}">
                      <a16:colId xmlns:a16="http://schemas.microsoft.com/office/drawing/2014/main" val="871908967"/>
                    </a:ext>
                  </a:extLst>
                </a:gridCol>
              </a:tblGrid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CASH_ADVANCE_FREQUENCY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Frequency of cash advance transactions (0 to 1).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233132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CASH_ADVANCE_TRX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number of cash advance transactions performed.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95116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PURCHASES_TRX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number of purchase transactions made by the customer.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647344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CREDIT_LIMIT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Maximum credit amount approved for the customer's card.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03181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PAYMENTS</a:t>
                      </a:r>
                      <a:endParaRPr lang="en-IN" sz="1500" dirty="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Total amount paid by the customer towards the credit card bill.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375794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MINIMUM_PAYMENTS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Minimum payment required from the customer each billing cycle.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018644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PRC_FULL_PAYMENT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Percentage of times the customer paid the full outstanding balance.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7283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TENURE</a:t>
                      </a:r>
                      <a:endParaRPr lang="en-IN" sz="1500"/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Total number of months the customer has held the credit card account.</a:t>
                      </a:r>
                    </a:p>
                  </a:txBody>
                  <a:tcPr marL="24827" marR="24827" marT="12413" marB="124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106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8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app.py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Home</a:t>
            </a:r>
            <a:br/>
            <a:r>
              <a:t>↓</a:t>
            </a:r>
            <a:br/>
            <a:r>
              <a:t>Dataset Analysis</a:t>
            </a:r>
            <a:br/>
            <a:r>
              <a:t>↓</a:t>
            </a:r>
            <a:br/>
            <a:r>
              <a:t>Dynamic Clustering</a:t>
            </a:r>
            <a:br/>
            <a:r>
              <a:t>↓</a:t>
            </a:r>
            <a:br/>
            <a:r>
              <a:t>Cluster Visualization</a:t>
            </a:r>
            <a:br/>
            <a:r>
              <a:t>↓</a:t>
            </a:r>
            <a:br/>
            <a:r>
              <a:t>Predict Cluster</a:t>
            </a:r>
            <a:br/>
            <a:br/>
            <a:r>
              <a:t>Implemented using if / elif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Load Dataset</a:t>
            </a:r>
            <a:br/>
            <a:r>
              <a:t>EDA</a:t>
            </a:r>
            <a:br/>
            <a:r>
              <a:t>Missing Values</a:t>
            </a:r>
            <a:br/>
            <a:r>
              <a:t>Feature Scaling</a:t>
            </a:r>
            <a:br/>
            <a:r>
              <a:t>K-Means</a:t>
            </a:r>
            <a:br/>
            <a:r>
              <a:t>Hierarchical Clustering</a:t>
            </a:r>
            <a:br/>
            <a:r>
              <a:t>DBSCAN</a:t>
            </a:r>
            <a:br/>
            <a:r>
              <a:t>Evaluation</a:t>
            </a:r>
            <a:br/>
            <a:r>
              <a:t>PCA</a:t>
            </a:r>
            <a:br/>
            <a:r>
              <a:t>Save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 Preview</a:t>
            </a:r>
            <a:br/>
            <a:r>
              <a:t>Statistics</a:t>
            </a:r>
            <a:br/>
            <a:r>
              <a:t>Correlation</a:t>
            </a:r>
            <a:br/>
            <a:r>
              <a:t>Heatmap</a:t>
            </a:r>
            <a:br/>
            <a:r>
              <a:t>Histogram</a:t>
            </a:r>
            <a:br/>
            <a:r>
              <a:t>Boxplot</a:t>
            </a:r>
            <a:br/>
            <a:r>
              <a:t>Outlier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StandardScaler applied before clustering.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8E806-AE3F-523A-A21D-33075EA9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92" y="2792360"/>
            <a:ext cx="3511057" cy="3239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551480"/>
            <a:ext cx="6711654" cy="4195481"/>
          </a:xfrm>
        </p:spPr>
        <p:txBody>
          <a:bodyPr/>
          <a:lstStyle/>
          <a:p>
            <a:pPr>
              <a:defRPr sz="2000"/>
            </a:pPr>
            <a:r>
              <a:rPr dirty="0"/>
              <a:t>Automatic &amp; Manual K</a:t>
            </a:r>
            <a:br>
              <a:rPr dirty="0"/>
            </a:br>
            <a:r>
              <a:rPr dirty="0"/>
              <a:t>Cluster Creation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C3F63-B309-1B15-7B86-5E95CB9A5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6" y="2997480"/>
            <a:ext cx="4409922" cy="2961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49F475-41EE-F00C-DEEE-B235FDEE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Elbow Curve</a:t>
            </a:r>
            <a:br/>
            <a:r>
              <a:t>Silhouette Curve</a:t>
            </a:r>
            <a:br/>
            <a:r>
              <a:t>PCA Plot</a:t>
            </a:r>
            <a:br/>
            <a:r>
              <a:t>Cluster Distribution</a:t>
            </a:r>
            <a:br/>
            <a:r>
              <a:t>Cluster Centers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Streamlit Dashboard</a:t>
            </a:r>
            <a:br/>
            <a:r>
              <a:t>Interactive Widgets</a:t>
            </a:r>
            <a:br/>
            <a:r>
              <a:t>Dynamic Clustering</a:t>
            </a:r>
            <a:br/>
            <a:r>
              <a:t>Prediction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Load scaler.pkl</a:t>
            </a:r>
            <a:br/>
            <a:r>
              <a:t>Load kmeans_model.pkl</a:t>
            </a:r>
            <a:br/>
            <a:r>
              <a:t>Predict Cluster</a:t>
            </a:r>
            <a:br/>
            <a:r>
              <a:t>Display Interpretation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 Segmentation Completed Successfully.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56292-CF1A-1D4C-E7AA-EDB771457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401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 Black</vt:lpstr>
      <vt:lpstr>Century Gothic</vt:lpstr>
      <vt:lpstr>Wingdings 3</vt:lpstr>
      <vt:lpstr>Ion</vt:lpstr>
      <vt:lpstr>Credit Card Customer Segmentation (Unsupervised Learning)</vt:lpstr>
      <vt:lpstr>Dataset Features</vt:lpstr>
      <vt:lpstr>PowerPoint Presentation</vt:lpstr>
      <vt:lpstr>app.py Structure</vt:lpstr>
      <vt:lpstr>Project Workflow</vt:lpstr>
      <vt:lpstr>EDA</vt:lpstr>
      <vt:lpstr>Feature Scaling</vt:lpstr>
      <vt:lpstr>K-Means</vt:lpstr>
      <vt:lpstr>PowerPoint Presentation</vt:lpstr>
      <vt:lpstr>Visualizations</vt:lpstr>
      <vt:lpstr>Frontend</vt:lpstr>
      <vt:lpstr>Prediction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 GOTTEMUKKULA</dc:creator>
  <cp:keywords/>
  <dc:description>generated using python-pptx</dc:description>
  <cp:lastModifiedBy>RAHUL GOTTEMUKKULA</cp:lastModifiedBy>
  <cp:revision>2</cp:revision>
  <dcterms:created xsi:type="dcterms:W3CDTF">2013-01-27T09:14:16Z</dcterms:created>
  <dcterms:modified xsi:type="dcterms:W3CDTF">2026-07-29T04:27:44Z</dcterms:modified>
  <cp:category/>
</cp:coreProperties>
</file>